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7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ДИПЛОМДЫҚ ЖҰМЫС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ntFAST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16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</a:t>
            </a:r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транзакцияларды</a:t>
            </a:r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интеллектуалды</a:t>
            </a:r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талдау</a:t>
            </a:r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жүйесін</a:t>
            </a:r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әзірлеу</a:t>
            </a:r>
            <a:r>
              <a:rPr lang="ru-RU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2461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Орындаған: </a:t>
            </a:r>
            <a:r>
              <a:rPr lang="ru-RU" sz="1200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05-057-22-01 </a:t>
            </a:r>
            <a:r>
              <a:rPr lang="ru-RU" sz="12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тобының</a:t>
            </a:r>
            <a:r>
              <a:rPr lang="ru-RU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ru-RU" sz="12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студенті</a:t>
            </a:r>
            <a:r>
              <a:rPr lang="ru-RU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kk-KZ" sz="12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Тәжі Нұрдәулет Шарапатұлы</a:t>
            </a:r>
            <a:endParaRPr lang="en-US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ctr">
              <a:spcAft>
                <a:spcPts val="4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Ғылыми жетекші: </a:t>
            </a: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PhD, </a:t>
            </a:r>
            <a:r>
              <a:rPr lang="ru-RU" sz="120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аға</a:t>
            </a:r>
            <a:r>
              <a:rPr lang="ru-RU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оқытушы</a:t>
            </a:r>
            <a:r>
              <a:rPr lang="ru-RU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А.А. </a:t>
            </a:r>
            <a:r>
              <a:rPr lang="ru-RU" sz="120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Найзағараева</a:t>
            </a:r>
            <a:endParaRPr lang="en-US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k-KZ" sz="110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 </a:t>
            </a:r>
            <a:r>
              <a:rPr lang="en-US" sz="110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ӨЗЕКТІЛІГІ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39"/>
            <a:ext cx="8046720" cy="3460905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ru-RU" sz="1400" dirty="0" err="1"/>
              <a:t>Қазіргі</a:t>
            </a:r>
            <a:r>
              <a:rPr lang="ru-RU" sz="1400" dirty="0"/>
              <a:t> </a:t>
            </a:r>
            <a:r>
              <a:rPr lang="ru-RU" sz="1400" dirty="0" err="1"/>
              <a:t>таңда</a:t>
            </a:r>
            <a:r>
              <a:rPr lang="ru-RU" sz="1400" dirty="0"/>
              <a:t> </a:t>
            </a:r>
            <a:r>
              <a:rPr lang="ru-RU" sz="1400" dirty="0" err="1"/>
              <a:t>қаржылық</a:t>
            </a:r>
            <a:r>
              <a:rPr lang="ru-RU" sz="1400" dirty="0"/>
              <a:t> </a:t>
            </a:r>
            <a:r>
              <a:rPr lang="ru-RU" sz="1400" dirty="0" err="1"/>
              <a:t>сектордағы</a:t>
            </a:r>
            <a:r>
              <a:rPr lang="ru-RU" sz="1400" dirty="0"/>
              <a:t> </a:t>
            </a:r>
            <a:r>
              <a:rPr lang="ru-RU" sz="1400" dirty="0" err="1"/>
              <a:t>цифрлық</a:t>
            </a:r>
            <a:r>
              <a:rPr lang="ru-RU" sz="1400" dirty="0"/>
              <a:t> </a:t>
            </a:r>
            <a:r>
              <a:rPr lang="ru-RU" sz="1400" dirty="0" err="1"/>
              <a:t>транзакциялар</a:t>
            </a:r>
            <a:r>
              <a:rPr lang="ru-RU" sz="1400" dirty="0"/>
              <a:t> </a:t>
            </a:r>
            <a:r>
              <a:rPr lang="ru-RU" sz="1400" dirty="0" err="1"/>
              <a:t>көлемінің</a:t>
            </a:r>
            <a:r>
              <a:rPr lang="ru-RU" sz="1400" dirty="0"/>
              <a:t> </a:t>
            </a:r>
            <a:r>
              <a:rPr lang="ru-RU" sz="1400" dirty="0" err="1"/>
              <a:t>күрт</a:t>
            </a:r>
            <a:r>
              <a:rPr lang="ru-RU" sz="1400" dirty="0"/>
              <a:t> </a:t>
            </a:r>
            <a:r>
              <a:rPr lang="ru-RU" sz="1400" dirty="0" err="1"/>
              <a:t>өсуі</a:t>
            </a:r>
            <a:r>
              <a:rPr lang="ru-RU" sz="1400" dirty="0"/>
              <a:t> </a:t>
            </a:r>
            <a:r>
              <a:rPr lang="ru-RU" sz="1400" dirty="0" err="1"/>
              <a:t>және</a:t>
            </a:r>
            <a:r>
              <a:rPr lang="ru-RU" sz="1400" dirty="0"/>
              <a:t> </a:t>
            </a:r>
            <a:r>
              <a:rPr lang="ru-RU" sz="1400" dirty="0" err="1"/>
              <a:t>алаяқтық</a:t>
            </a:r>
            <a:r>
              <a:rPr lang="ru-RU" sz="1400" dirty="0"/>
              <a:t> </a:t>
            </a:r>
            <a:r>
              <a:rPr lang="ru-RU" sz="1400" dirty="0" err="1"/>
              <a:t>схемаларының</a:t>
            </a:r>
            <a:r>
              <a:rPr lang="ru-RU" sz="1400" dirty="0"/>
              <a:t> </a:t>
            </a:r>
            <a:r>
              <a:rPr lang="ru-RU" sz="1400" dirty="0" err="1"/>
              <a:t>күрделенуі</a:t>
            </a:r>
            <a:r>
              <a:rPr lang="ru-RU" sz="1400" dirty="0"/>
              <a:t> </a:t>
            </a:r>
            <a:r>
              <a:rPr lang="ru-RU" sz="1400" dirty="0" err="1"/>
              <a:t>қаржылық</a:t>
            </a:r>
            <a:r>
              <a:rPr lang="ru-RU" sz="1400" dirty="0"/>
              <a:t> мониторинг </a:t>
            </a:r>
            <a:r>
              <a:rPr lang="ru-RU" sz="1400" dirty="0" err="1"/>
              <a:t>саласына</a:t>
            </a:r>
            <a:r>
              <a:rPr lang="ru-RU" sz="1400" dirty="0"/>
              <a:t> </a:t>
            </a:r>
            <a:r>
              <a:rPr lang="ru-RU" sz="1400" dirty="0" err="1"/>
              <a:t>жаңа</a:t>
            </a:r>
            <a:r>
              <a:rPr lang="ru-RU" sz="1400" dirty="0"/>
              <a:t> </a:t>
            </a:r>
            <a:r>
              <a:rPr lang="ru-RU" sz="1400" dirty="0" err="1"/>
              <a:t>талаптар</a:t>
            </a:r>
            <a:r>
              <a:rPr lang="ru-RU" sz="1400" dirty="0"/>
              <a:t> </a:t>
            </a:r>
            <a:r>
              <a:rPr lang="ru-RU" sz="1400" dirty="0" err="1"/>
              <a:t>қояды</a:t>
            </a:r>
            <a:r>
              <a:rPr lang="ru-RU" sz="1400" dirty="0"/>
              <a:t>. «</a:t>
            </a:r>
            <a:r>
              <a:rPr lang="en-US" sz="1400" dirty="0" err="1"/>
              <a:t>ntFAST</a:t>
            </a:r>
            <a:r>
              <a:rPr lang="en-US" sz="1400" dirty="0"/>
              <a:t>» </a:t>
            </a:r>
            <a:r>
              <a:rPr lang="ru-RU" sz="1400" dirty="0" err="1"/>
              <a:t>қаржылық</a:t>
            </a:r>
            <a:r>
              <a:rPr lang="ru-RU" sz="1400" dirty="0"/>
              <a:t> </a:t>
            </a:r>
            <a:r>
              <a:rPr lang="ru-RU" sz="1400" dirty="0" err="1"/>
              <a:t>транзакцияларды</a:t>
            </a:r>
            <a:r>
              <a:rPr lang="ru-RU" sz="1400" dirty="0"/>
              <a:t> </a:t>
            </a:r>
            <a:r>
              <a:rPr lang="ru-RU" sz="1400" dirty="0" err="1"/>
              <a:t>талдау</a:t>
            </a:r>
            <a:r>
              <a:rPr lang="ru-RU" sz="1400" dirty="0"/>
              <a:t> </a:t>
            </a:r>
            <a:r>
              <a:rPr lang="ru-RU" sz="1400" dirty="0" err="1"/>
              <a:t>жүйесін</a:t>
            </a:r>
            <a:r>
              <a:rPr lang="ru-RU" sz="1400" dirty="0"/>
              <a:t> </a:t>
            </a:r>
            <a:r>
              <a:rPr lang="ru-RU" sz="1400" dirty="0" err="1"/>
              <a:t>әзірлеудің</a:t>
            </a:r>
            <a:r>
              <a:rPr lang="ru-RU" sz="1400" dirty="0"/>
              <a:t> </a:t>
            </a:r>
            <a:r>
              <a:rPr lang="ru-RU" sz="1400" dirty="0" err="1"/>
              <a:t>өзектілігі</a:t>
            </a:r>
            <a:r>
              <a:rPr lang="ru-RU" sz="1400" dirty="0"/>
              <a:t> </a:t>
            </a:r>
            <a:r>
              <a:rPr lang="ru-RU" sz="1400" dirty="0" err="1"/>
              <a:t>мынадай</a:t>
            </a:r>
            <a:r>
              <a:rPr lang="ru-RU" sz="1400" dirty="0"/>
              <a:t> </a:t>
            </a:r>
            <a:r>
              <a:rPr lang="ru-RU" sz="1400" dirty="0" err="1"/>
              <a:t>факторлармен</a:t>
            </a:r>
            <a:r>
              <a:rPr lang="ru-RU" sz="1400" dirty="0"/>
              <a:t> </a:t>
            </a:r>
            <a:r>
              <a:rPr lang="ru-RU" sz="1400" dirty="0" err="1"/>
              <a:t>негізделеді</a:t>
            </a:r>
            <a:r>
              <a:rPr lang="ru-RU" sz="1400" dirty="0"/>
              <a:t>:</a:t>
            </a:r>
          </a:p>
          <a:p>
            <a:r>
              <a:rPr lang="ru-RU" sz="1400" dirty="0" err="1"/>
              <a:t>Процестерді</a:t>
            </a:r>
            <a:r>
              <a:rPr lang="ru-RU" sz="1400" dirty="0"/>
              <a:t> </a:t>
            </a:r>
            <a:r>
              <a:rPr lang="ru-RU" sz="1400" dirty="0" err="1"/>
              <a:t>автоматтандыру</a:t>
            </a:r>
            <a:r>
              <a:rPr lang="ru-RU" sz="1400" dirty="0"/>
              <a:t>: </a:t>
            </a:r>
            <a:r>
              <a:rPr lang="ru-RU" sz="1400" dirty="0" err="1"/>
              <a:t>Банктік</a:t>
            </a:r>
            <a:r>
              <a:rPr lang="ru-RU" sz="1400" dirty="0"/>
              <a:t> </a:t>
            </a:r>
            <a:r>
              <a:rPr lang="ru-RU" sz="1400" dirty="0" err="1"/>
              <a:t>үзінділерді</a:t>
            </a:r>
            <a:r>
              <a:rPr lang="ru-RU" sz="1400" dirty="0"/>
              <a:t> </a:t>
            </a:r>
            <a:r>
              <a:rPr lang="ru-RU" sz="1400" dirty="0" err="1"/>
              <a:t>қолмен</a:t>
            </a:r>
            <a:r>
              <a:rPr lang="ru-RU" sz="1400" dirty="0"/>
              <a:t> </a:t>
            </a:r>
            <a:r>
              <a:rPr lang="ru-RU" sz="1400" dirty="0" err="1"/>
              <a:t>талдауға</a:t>
            </a:r>
            <a:r>
              <a:rPr lang="ru-RU" sz="1400" dirty="0"/>
              <a:t> </a:t>
            </a:r>
            <a:r>
              <a:rPr lang="ru-RU" sz="1400" dirty="0" err="1"/>
              <a:t>кететін</a:t>
            </a:r>
            <a:r>
              <a:rPr lang="ru-RU" sz="1400" dirty="0"/>
              <a:t> </a:t>
            </a:r>
            <a:r>
              <a:rPr lang="ru-RU" sz="1400" dirty="0" err="1"/>
              <a:t>уақытты</a:t>
            </a:r>
            <a:r>
              <a:rPr lang="ru-RU" sz="1400" dirty="0"/>
              <a:t> </a:t>
            </a:r>
            <a:r>
              <a:rPr lang="ru-RU" sz="1400" dirty="0" err="1"/>
              <a:t>қысқартып</a:t>
            </a:r>
            <a:r>
              <a:rPr lang="ru-RU" sz="1400" dirty="0"/>
              <a:t> (2-4 </a:t>
            </a:r>
            <a:r>
              <a:rPr lang="ru-RU" sz="1400" dirty="0" err="1"/>
              <a:t>сағаттан</a:t>
            </a:r>
            <a:r>
              <a:rPr lang="ru-RU" sz="1400" dirty="0"/>
              <a:t> 2-5 </a:t>
            </a:r>
            <a:r>
              <a:rPr lang="ru-RU" sz="1400" dirty="0" err="1"/>
              <a:t>минутқа</a:t>
            </a:r>
            <a:r>
              <a:rPr lang="ru-RU" sz="1400" dirty="0"/>
              <a:t> </a:t>
            </a:r>
            <a:r>
              <a:rPr lang="ru-RU" sz="1400" dirty="0" err="1"/>
              <a:t>дейін</a:t>
            </a:r>
            <a:r>
              <a:rPr lang="ru-RU" sz="1400" dirty="0"/>
              <a:t>), </a:t>
            </a:r>
            <a:r>
              <a:rPr lang="ru-RU" sz="1400" dirty="0" err="1"/>
              <a:t>алаяқтық</a:t>
            </a:r>
            <a:r>
              <a:rPr lang="ru-RU" sz="1400" dirty="0"/>
              <a:t> </a:t>
            </a:r>
            <a:r>
              <a:rPr lang="ru-RU" sz="1400" dirty="0" err="1"/>
              <a:t>белгілерін</a:t>
            </a:r>
            <a:r>
              <a:rPr lang="ru-RU" sz="1400" dirty="0"/>
              <a:t> </a:t>
            </a:r>
            <a:r>
              <a:rPr lang="ru-RU" sz="1400" dirty="0" err="1"/>
              <a:t>анықтау</a:t>
            </a:r>
            <a:r>
              <a:rPr lang="ru-RU" sz="1400" dirty="0"/>
              <a:t> </a:t>
            </a:r>
            <a:r>
              <a:rPr lang="ru-RU" sz="1400" dirty="0" err="1"/>
              <a:t>жылдамдығы</a:t>
            </a:r>
            <a:r>
              <a:rPr lang="ru-RU" sz="1400" dirty="0"/>
              <a:t> мен </a:t>
            </a:r>
            <a:r>
              <a:rPr lang="ru-RU" sz="1400" dirty="0" err="1"/>
              <a:t>дәлдігін</a:t>
            </a:r>
            <a:r>
              <a:rPr lang="ru-RU" sz="1400" dirty="0"/>
              <a:t> </a:t>
            </a:r>
            <a:r>
              <a:rPr lang="ru-RU" sz="1400" dirty="0" err="1"/>
              <a:t>арттыру</a:t>
            </a:r>
            <a:r>
              <a:rPr lang="ru-RU" sz="1400" dirty="0"/>
              <a:t>.</a:t>
            </a:r>
          </a:p>
          <a:p>
            <a:r>
              <a:rPr lang="ru-RU" sz="1400" b="1" dirty="0" err="1"/>
              <a:t>Талдау</a:t>
            </a:r>
            <a:r>
              <a:rPr lang="ru-RU" sz="1400" b="1" dirty="0"/>
              <a:t> </a:t>
            </a:r>
            <a:r>
              <a:rPr lang="ru-RU" sz="1400" b="1" dirty="0" err="1"/>
              <a:t>сапасы</a:t>
            </a:r>
            <a:r>
              <a:rPr lang="ru-RU" sz="1400" b="1" dirty="0"/>
              <a:t>:</a:t>
            </a:r>
            <a:r>
              <a:rPr lang="ru-RU" sz="1400" dirty="0"/>
              <a:t> 11 </a:t>
            </a:r>
            <a:r>
              <a:rPr lang="ru-RU" sz="1400" dirty="0" err="1"/>
              <a:t>тәуелсіз</a:t>
            </a:r>
            <a:r>
              <a:rPr lang="ru-RU" sz="1400" dirty="0"/>
              <a:t> </a:t>
            </a:r>
            <a:r>
              <a:rPr lang="en-US" sz="1400" dirty="0"/>
              <a:t>rule-based </a:t>
            </a:r>
            <a:r>
              <a:rPr lang="ru-RU" sz="1400" dirty="0"/>
              <a:t>модуль </a:t>
            </a:r>
            <a:r>
              <a:rPr lang="ru-RU" sz="1400" dirty="0" err="1"/>
              <a:t>арқылы</a:t>
            </a:r>
            <a:r>
              <a:rPr lang="ru-RU" sz="1400" dirty="0"/>
              <a:t> </a:t>
            </a:r>
            <a:r>
              <a:rPr lang="ru-RU" sz="1400" dirty="0" err="1"/>
              <a:t>алаяқтықтың</a:t>
            </a:r>
            <a:r>
              <a:rPr lang="ru-RU" sz="1400" dirty="0"/>
              <a:t> </a:t>
            </a:r>
            <a:r>
              <a:rPr lang="ru-RU" sz="1400" dirty="0" err="1"/>
              <a:t>әр</a:t>
            </a:r>
            <a:r>
              <a:rPr lang="ru-RU" sz="1400" dirty="0"/>
              <a:t> </a:t>
            </a:r>
            <a:r>
              <a:rPr lang="ru-RU" sz="1400" dirty="0" err="1"/>
              <a:t>түрін</a:t>
            </a:r>
            <a:r>
              <a:rPr lang="ru-RU" sz="1400" dirty="0"/>
              <a:t> (</a:t>
            </a:r>
            <a:r>
              <a:rPr lang="ru-RU" sz="1400" dirty="0" err="1"/>
              <a:t>ақша</a:t>
            </a:r>
            <a:r>
              <a:rPr lang="ru-RU" sz="1400" dirty="0"/>
              <a:t> </a:t>
            </a:r>
            <a:r>
              <a:rPr lang="ru-RU" sz="1400" dirty="0" err="1"/>
              <a:t>жылыстату</a:t>
            </a:r>
            <a:r>
              <a:rPr lang="ru-RU" sz="1400" dirty="0"/>
              <a:t>, структуризация, </a:t>
            </a:r>
            <a:r>
              <a:rPr lang="ru-RU" sz="1400" dirty="0" err="1"/>
              <a:t>түнгі</a:t>
            </a:r>
            <a:r>
              <a:rPr lang="ru-RU" sz="1400" dirty="0"/>
              <a:t> </a:t>
            </a:r>
            <a:r>
              <a:rPr lang="ru-RU" sz="1400" dirty="0" err="1"/>
              <a:t>аударымдар</a:t>
            </a:r>
            <a:r>
              <a:rPr lang="ru-RU" sz="1400" dirty="0"/>
              <a:t>, </a:t>
            </a:r>
            <a:r>
              <a:rPr lang="ru-RU" sz="1400" dirty="0" err="1"/>
              <a:t>т.б</a:t>
            </a:r>
            <a:r>
              <a:rPr lang="ru-RU" sz="1400" dirty="0"/>
              <a:t>.) </a:t>
            </a:r>
            <a:r>
              <a:rPr lang="ru-RU" sz="1400" dirty="0" err="1"/>
              <a:t>жүйелі</a:t>
            </a:r>
            <a:r>
              <a:rPr lang="ru-RU" sz="1400" dirty="0"/>
              <a:t> </a:t>
            </a:r>
            <a:r>
              <a:rPr lang="ru-RU" sz="1400" dirty="0" err="1"/>
              <a:t>түрде</a:t>
            </a:r>
            <a:r>
              <a:rPr lang="ru-RU" sz="1400" dirty="0"/>
              <a:t> </a:t>
            </a:r>
            <a:r>
              <a:rPr lang="ru-RU" sz="1400" dirty="0" err="1"/>
              <a:t>анықтау</a:t>
            </a:r>
            <a:r>
              <a:rPr lang="ru-RU" sz="1400" dirty="0"/>
              <a:t> </a:t>
            </a:r>
            <a:r>
              <a:rPr lang="ru-RU" sz="1400" dirty="0" err="1"/>
              <a:t>және</a:t>
            </a:r>
            <a:r>
              <a:rPr lang="ru-RU" sz="1400" dirty="0"/>
              <a:t> </a:t>
            </a:r>
            <a:r>
              <a:rPr lang="ru-RU" sz="1400" dirty="0" err="1"/>
              <a:t>адам</a:t>
            </a:r>
            <a:r>
              <a:rPr lang="ru-RU" sz="1400" dirty="0"/>
              <a:t> </a:t>
            </a:r>
            <a:r>
              <a:rPr lang="ru-RU" sz="1400" dirty="0" err="1"/>
              <a:t>факторына</a:t>
            </a:r>
            <a:r>
              <a:rPr lang="ru-RU" sz="1400" dirty="0"/>
              <a:t> </a:t>
            </a:r>
            <a:r>
              <a:rPr lang="ru-RU" sz="1400" dirty="0" err="1"/>
              <a:t>тәуелділікті</a:t>
            </a:r>
            <a:r>
              <a:rPr lang="ru-RU" sz="1400" dirty="0"/>
              <a:t> </a:t>
            </a:r>
            <a:r>
              <a:rPr lang="ru-RU" sz="1400" dirty="0" err="1"/>
              <a:t>азайту</a:t>
            </a:r>
            <a:r>
              <a:rPr lang="ru-RU" sz="1400" dirty="0"/>
              <a:t>.</a:t>
            </a:r>
          </a:p>
          <a:p>
            <a:r>
              <a:rPr lang="ru-RU" sz="1400" b="1" dirty="0" err="1"/>
              <a:t>Деректерді</a:t>
            </a:r>
            <a:r>
              <a:rPr lang="ru-RU" sz="1400" b="1" dirty="0"/>
              <a:t> </a:t>
            </a:r>
            <a:r>
              <a:rPr lang="ru-RU" sz="1400" b="1" dirty="0" err="1"/>
              <a:t>жүйелеу</a:t>
            </a:r>
            <a:r>
              <a:rPr lang="ru-RU" sz="1400" b="1" dirty="0"/>
              <a:t>: </a:t>
            </a:r>
            <a:r>
              <a:rPr lang="ru-RU" sz="1400" dirty="0" err="1"/>
              <a:t>Транзакциялар</a:t>
            </a:r>
            <a:r>
              <a:rPr lang="ru-RU" sz="1400" dirty="0"/>
              <a:t>, </a:t>
            </a:r>
            <a:r>
              <a:rPr lang="ru-RU" sz="1400" dirty="0" err="1"/>
              <a:t>субъектілер</a:t>
            </a:r>
            <a:r>
              <a:rPr lang="ru-RU" sz="1400" dirty="0"/>
              <a:t> </a:t>
            </a:r>
            <a:r>
              <a:rPr lang="ru-RU" sz="1400" dirty="0" err="1"/>
              <a:t>және</a:t>
            </a:r>
            <a:r>
              <a:rPr lang="ru-RU" sz="1400" dirty="0"/>
              <a:t> </a:t>
            </a:r>
            <a:r>
              <a:rPr lang="ru-RU" sz="1400" dirty="0" err="1"/>
              <a:t>тәуекел</a:t>
            </a:r>
            <a:r>
              <a:rPr lang="ru-RU" sz="1400" dirty="0"/>
              <a:t> </a:t>
            </a:r>
            <a:r>
              <a:rPr lang="ru-RU" sz="1400" dirty="0" err="1"/>
              <a:t>бағалау</a:t>
            </a:r>
            <a:r>
              <a:rPr lang="ru-RU" sz="1400" dirty="0"/>
              <a:t> </a:t>
            </a:r>
            <a:r>
              <a:rPr lang="ru-RU" sz="1400" dirty="0" err="1"/>
              <a:t>нәтижелерін</a:t>
            </a:r>
            <a:r>
              <a:rPr lang="ru-RU" sz="1400" dirty="0"/>
              <a:t> </a:t>
            </a:r>
            <a:r>
              <a:rPr lang="ru-RU" sz="1400" dirty="0" err="1"/>
              <a:t>бір</a:t>
            </a:r>
            <a:r>
              <a:rPr lang="ru-RU" sz="1400" dirty="0"/>
              <a:t> </a:t>
            </a:r>
            <a:r>
              <a:rPr lang="ru-RU" sz="1400" dirty="0" err="1"/>
              <a:t>орталықтан</a:t>
            </a:r>
            <a:r>
              <a:rPr lang="ru-RU" sz="1400" dirty="0"/>
              <a:t> </a:t>
            </a:r>
            <a:r>
              <a:rPr lang="ru-RU" sz="1400" dirty="0" err="1"/>
              <a:t>басқару</a:t>
            </a:r>
            <a:r>
              <a:rPr lang="ru-RU" sz="1400" dirty="0"/>
              <a:t>, </a:t>
            </a:r>
            <a:r>
              <a:rPr lang="en-US" sz="1400" dirty="0"/>
              <a:t>AML/CFT </a:t>
            </a:r>
            <a:r>
              <a:rPr lang="ru-RU" sz="1400" dirty="0" err="1"/>
              <a:t>халықаралық</a:t>
            </a:r>
            <a:r>
              <a:rPr lang="ru-RU" sz="1400" dirty="0"/>
              <a:t> </a:t>
            </a:r>
            <a:r>
              <a:rPr lang="ru-RU" sz="1400" dirty="0" err="1"/>
              <a:t>стандарттарына</a:t>
            </a:r>
            <a:r>
              <a:rPr lang="ru-RU" sz="1400" dirty="0"/>
              <a:t> </a:t>
            </a:r>
            <a:r>
              <a:rPr lang="ru-RU" sz="1400" dirty="0" err="1"/>
              <a:t>сай</a:t>
            </a:r>
            <a:r>
              <a:rPr lang="ru-RU" sz="1400" dirty="0"/>
              <a:t> </a:t>
            </a:r>
            <a:r>
              <a:rPr lang="ru-RU" sz="1400" dirty="0" err="1"/>
              <a:t>есептілікті</a:t>
            </a:r>
            <a:r>
              <a:rPr lang="ru-RU" sz="1400" dirty="0"/>
              <a:t> </a:t>
            </a:r>
            <a:r>
              <a:rPr lang="ru-RU" sz="1400" dirty="0" err="1"/>
              <a:t>қамтамасыз</a:t>
            </a:r>
            <a:r>
              <a:rPr lang="ru-RU" sz="1400" dirty="0"/>
              <a:t> </a:t>
            </a:r>
            <a:r>
              <a:rPr lang="ru-RU" sz="1400" dirty="0" err="1"/>
              <a:t>ету</a:t>
            </a:r>
            <a:r>
              <a:rPr lang="ru-RU" sz="1400" dirty="0"/>
              <a:t> </a:t>
            </a:r>
            <a:r>
              <a:rPr lang="ru-RU" sz="1400" dirty="0" err="1"/>
              <a:t>және</a:t>
            </a:r>
            <a:r>
              <a:rPr lang="ru-RU" sz="1400" dirty="0"/>
              <a:t> </a:t>
            </a:r>
            <a:r>
              <a:rPr lang="ru-RU" sz="1400" dirty="0" err="1"/>
              <a:t>қателіктерді</a:t>
            </a:r>
            <a:r>
              <a:rPr lang="ru-RU" sz="1400" dirty="0"/>
              <a:t> (</a:t>
            </a:r>
            <a:r>
              <a:rPr lang="ru-RU" sz="1400" dirty="0" err="1"/>
              <a:t>адами</a:t>
            </a:r>
            <a:r>
              <a:rPr lang="ru-RU" sz="1400" dirty="0"/>
              <a:t> </a:t>
            </a:r>
            <a:r>
              <a:rPr lang="ru-RU" sz="1400" dirty="0" err="1"/>
              <a:t>факторды</a:t>
            </a:r>
            <a:r>
              <a:rPr lang="ru-RU" sz="1400" dirty="0"/>
              <a:t>) </a:t>
            </a:r>
            <a:r>
              <a:rPr lang="ru-RU" sz="1400" dirty="0" err="1"/>
              <a:t>болдырмау</a:t>
            </a:r>
            <a:r>
              <a:rPr lang="ru-RU" sz="1400" dirty="0"/>
              <a:t>.</a:t>
            </a:r>
          </a:p>
          <a:p>
            <a:r>
              <a:rPr lang="ru-RU" sz="1400" b="1" dirty="0" err="1"/>
              <a:t>Бәсекеге</a:t>
            </a:r>
            <a:r>
              <a:rPr lang="ru-RU" sz="1400" b="1" dirty="0"/>
              <a:t> </a:t>
            </a:r>
            <a:r>
              <a:rPr lang="ru-RU" sz="1400" b="1" dirty="0" err="1"/>
              <a:t>қабілеттілік</a:t>
            </a:r>
            <a:r>
              <a:rPr lang="ru-RU" sz="1400" b="1" dirty="0"/>
              <a:t>:</a:t>
            </a:r>
            <a:r>
              <a:rPr lang="ru-RU" sz="1400" dirty="0"/>
              <a:t> </a:t>
            </a:r>
            <a:r>
              <a:rPr lang="ru-RU" sz="1400" dirty="0" err="1"/>
              <a:t>Жасанды</a:t>
            </a:r>
            <a:r>
              <a:rPr lang="ru-RU" sz="1400" dirty="0"/>
              <a:t> интеллект (</a:t>
            </a:r>
            <a:r>
              <a:rPr lang="en-US" sz="1400" dirty="0"/>
              <a:t>Claude AI) </a:t>
            </a:r>
            <a:r>
              <a:rPr lang="ru-RU" sz="1400" dirty="0" err="1"/>
              <a:t>интеграциясы</a:t>
            </a:r>
            <a:r>
              <a:rPr lang="ru-RU" sz="1400" dirty="0"/>
              <a:t>, </a:t>
            </a:r>
            <a:r>
              <a:rPr lang="ru-RU" sz="1400" dirty="0" err="1"/>
              <a:t>көп</a:t>
            </a:r>
            <a:r>
              <a:rPr lang="ru-RU" sz="1400" dirty="0"/>
              <a:t> </a:t>
            </a:r>
            <a:r>
              <a:rPr lang="ru-RU" sz="1400" dirty="0" err="1"/>
              <a:t>тілді</a:t>
            </a:r>
            <a:r>
              <a:rPr lang="ru-RU" sz="1400" dirty="0"/>
              <a:t> </a:t>
            </a:r>
            <a:r>
              <a:rPr lang="ru-RU" sz="1400" dirty="0" err="1"/>
              <a:t>қолдау</a:t>
            </a:r>
            <a:r>
              <a:rPr lang="ru-RU" sz="1400" dirty="0"/>
              <a:t> (</a:t>
            </a:r>
            <a:r>
              <a:rPr lang="ru-RU" sz="1400" dirty="0" err="1"/>
              <a:t>қазақ</a:t>
            </a:r>
            <a:r>
              <a:rPr lang="ru-RU" sz="1400" dirty="0"/>
              <a:t>, </a:t>
            </a:r>
            <a:r>
              <a:rPr lang="ru-RU" sz="1400" dirty="0" err="1"/>
              <a:t>орыс</a:t>
            </a:r>
            <a:r>
              <a:rPr lang="ru-RU" sz="1400" dirty="0"/>
              <a:t>, </a:t>
            </a:r>
            <a:r>
              <a:rPr lang="ru-RU" sz="1400" dirty="0" err="1"/>
              <a:t>ағылшын</a:t>
            </a:r>
            <a:r>
              <a:rPr lang="ru-RU" sz="1400" dirty="0"/>
              <a:t>) </a:t>
            </a:r>
            <a:r>
              <a:rPr lang="ru-RU" sz="1400" dirty="0" err="1"/>
              <a:t>және</a:t>
            </a:r>
            <a:r>
              <a:rPr lang="ru-RU" sz="1400" dirty="0"/>
              <a:t> </a:t>
            </a:r>
            <a:r>
              <a:rPr lang="ru-RU" sz="1400" dirty="0" err="1"/>
              <a:t>заманауи</a:t>
            </a:r>
            <a:r>
              <a:rPr lang="ru-RU" sz="1400" dirty="0"/>
              <a:t> веб-</a:t>
            </a:r>
            <a:r>
              <a:rPr lang="ru-RU" sz="1400" dirty="0" err="1"/>
              <a:t>технологияларды</a:t>
            </a:r>
            <a:r>
              <a:rPr lang="ru-RU" sz="1400" dirty="0"/>
              <a:t> </a:t>
            </a:r>
            <a:r>
              <a:rPr lang="ru-RU" sz="1400" dirty="0" err="1"/>
              <a:t>енгізу</a:t>
            </a:r>
            <a:r>
              <a:rPr lang="ru-RU" sz="1400" dirty="0"/>
              <a:t> </a:t>
            </a:r>
            <a:r>
              <a:rPr lang="ru-RU" sz="1400" dirty="0" err="1"/>
              <a:t>арқылы</a:t>
            </a:r>
            <a:r>
              <a:rPr lang="ru-RU" sz="1400" dirty="0"/>
              <a:t> </a:t>
            </a:r>
            <a:r>
              <a:rPr lang="ru-RU" sz="1400" dirty="0" err="1"/>
              <a:t>қаржылық</a:t>
            </a:r>
            <a:r>
              <a:rPr lang="ru-RU" sz="1400" dirty="0"/>
              <a:t> мониторинг </a:t>
            </a:r>
            <a:r>
              <a:rPr lang="ru-RU" sz="1400" dirty="0" err="1"/>
              <a:t>саласындағы</a:t>
            </a:r>
            <a:r>
              <a:rPr lang="ru-RU" sz="1400" dirty="0"/>
              <a:t> </a:t>
            </a:r>
            <a:r>
              <a:rPr lang="ru-RU" sz="1400" dirty="0" err="1"/>
              <a:t>отандық</a:t>
            </a:r>
            <a:r>
              <a:rPr lang="ru-RU" sz="1400" dirty="0"/>
              <a:t> </a:t>
            </a:r>
            <a:r>
              <a:rPr lang="ru-RU" sz="1400" dirty="0" err="1"/>
              <a:t>шешімдердің</a:t>
            </a:r>
            <a:r>
              <a:rPr lang="ru-RU" sz="1400" dirty="0"/>
              <a:t> </a:t>
            </a:r>
            <a:r>
              <a:rPr lang="ru-RU" sz="1400" dirty="0" err="1"/>
              <a:t>деңгейін</a:t>
            </a:r>
            <a:r>
              <a:rPr lang="ru-RU" sz="1400" dirty="0"/>
              <a:t> </a:t>
            </a:r>
            <a:r>
              <a:rPr lang="ru-RU" sz="1400" dirty="0" err="1"/>
              <a:t>көтеру</a:t>
            </a:r>
            <a:r>
              <a:rPr lang="ru-RU" sz="1400" dirty="0"/>
              <a:t>.</a:t>
            </a:r>
          </a:p>
          <a:p>
            <a:endParaRPr lang="ru-RU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ЖҰМЫСТЫҢ МАҚСАТЫ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4572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5156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Банктік үзінділерді автоматты түрде талдайтын, алаяқтық белгілерін анықтайтын және тәуекел деңгейін бағалайтын интеллектуалды веб-жүйе әзірлеу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37744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Rule-Based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модульді ереже негізіндегі фрод-детекция жүйесін құру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3774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2377440"/>
            <a:ext cx="45720" cy="2103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2377440"/>
            <a:ext cx="25603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971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Жасанды интеллект арқылы талдау нәтижелерін түсіндіру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377440"/>
            <a:ext cx="45720" cy="2103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377440"/>
            <a:ext cx="25603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Көп тілді, қауіпсіз, масштабталатын веб-қосымша жасау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ДИПЛОМДЫҚ ЖҰМЫСТЫҢ МІНДЕТТЕРІ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08813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88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 алаяқтық түрлерін және анықтау әдістерін зерттеу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5256" y="1435608"/>
            <a:ext cx="0" cy="21031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2821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28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Банктік үзінділерді автоматты талдау алгоритмдерін әзірлеу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" y="2075688"/>
            <a:ext cx="0" cy="21031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6829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rule-based фрод-детекция модулін жобалау және іске асыру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" y="2715768"/>
            <a:ext cx="0" cy="21031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00837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Жасанды интеллект (Claude AI / Ollama) интеграциясын жүзеге асыру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" y="3355848"/>
            <a:ext cx="0" cy="21031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64845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48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Көп тілді (қаз/рус/ағыл) веб-интерфейс жасау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" y="3995928"/>
            <a:ext cx="0" cy="210312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28853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88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251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Жүйені нақты банктік деректерде тестілеу және нәтижелерді бағалау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ДИПЛОМДЫҚ ЖҰМЫС ҮШ ТАРАУДАН ТҰРАДЫ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69748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ТЕОРИЯЛЫҚ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НЕГІЗДЕР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 алаяқтық түрлері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AML/CFT стандарттары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детекция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Қолданыстағы шешімдерге шолу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9748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51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ЖОБАЛАУ ЖӘНЕ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ӘЗІРЛЕУ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тех. стек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Фрод-детекция модульдері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интеграциясы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қоры құрылымы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9748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051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ТЕСТІЛЕУ ЖӘНЕ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НӘТИЖЕЛЕР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деректерде тестілеу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Модульдер тиімділігі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Салыстырмалы талдау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Қорытынды ұсыныстар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ЖҮЙЕ АРХИТЕКТУРАСЫ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+  TypeScript  +  Tailwind CSS  +  Vite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14B8A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013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8013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уақыт  |  Прогресс  |  Онлайн статус  |  Хабарламалар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55117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55117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+  SQLAlchemy ORM  +  Pydantic  +  JWT 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8B5C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009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30098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FraudEngine (11 mod)  |  BankParser  |  AI Manager  |  Celery + Redis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solidFill>
            <a:srgbClr val="F59E0B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050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40507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|  5 кесте  |  JSON fields  |  Full-text search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ДЕРЕКТЕР ҚОРЫ ҚҰРЫЛЫМЫ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role,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is_online, last_login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0584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subject_id, status,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fraud_score, risk_level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517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analysis_id, amount,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counterparty, category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2834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74520" y="2834640"/>
            <a:ext cx="26517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Subjects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iin_bin,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risk_level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265176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LoginHistory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ip,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user_agent, login_time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ФАЙЛДЫ ӨҢДЕУ ПРОЦЕСІ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20700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жүктеу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(PDF/XLSX/CSV)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0700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типін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анықтау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2070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Транзакцияларды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0372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1207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Категориялау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43000" y="303580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0604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303580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9748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Фрод-детекция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модуль)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3484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40680" y="30358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44068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632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талдау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 баяндама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903720" y="29260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9520" y="30358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9516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Нәтижелерді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сақтау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ФРОД-ДЕТЕКЦИЯ ЖҮЙЕСІ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86868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005840"/>
            <a:ext cx="1554480" cy="868680"/>
          </a:xfrm>
          <a:prstGeom prst="rect">
            <a:avLst/>
          </a:prstGeom>
          <a:solidFill>
            <a:srgbClr val="10B981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0058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234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005840"/>
            <a:ext cx="1554480" cy="868680"/>
          </a:xfrm>
          <a:prstGeom prst="rect">
            <a:avLst/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0058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234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23560" y="1005840"/>
            <a:ext cx="1554480" cy="868680"/>
          </a:xfrm>
          <a:prstGeom prst="rect">
            <a:avLst/>
          </a:prstGeom>
          <a:solidFill>
            <a:srgbClr val="8B5C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10058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234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1005840"/>
            <a:ext cx="1554480" cy="868680"/>
          </a:xfrm>
          <a:prstGeom prst="rect">
            <a:avLst/>
          </a:prstGeom>
          <a:solidFill>
            <a:srgbClr val="F59E0B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10058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Тәуекел деңгейлері: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19202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 (0-25)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06040" y="2560320"/>
            <a:ext cx="192024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  (25-50)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192024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 (50-70)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2560320"/>
            <a:ext cx="1920240" cy="5029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 (70-100)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337560"/>
            <a:ext cx="457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Контекстуалды салмақтау — аккаунт типі бойынша модуль салмақтары автоматты бейімделеді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840480"/>
            <a:ext cx="457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67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Corroboration bonus — бірнеше модуль бірдей қауіпті анықтаса, балл көтеріледі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343400"/>
            <a:ext cx="457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3708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Override — жоғары сенімділікті схема табылса, минимум балл қойылады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НЕГІЗГІ МОДУЛЬДЕР — 1-БӨЛІМ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572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17043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Velocity Analyzer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41732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Жылдам транзакция серияларын анықтау, күнделікті шығын шоғырлануы, Z-score &gt; 3.0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65960"/>
            <a:ext cx="4572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1305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0574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37744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желісін графикалық талдау, циклдік аударымдар, hub/star паттерндер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4572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09067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30175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Structuring Detector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33756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Сомаларды бөлшектеу анықтау (1М KZT-ден төмен), split groups, consecutive patterns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86200"/>
            <a:ext cx="4572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05079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39776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Merchant Risk Scorer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2976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Қауіпті мерчант категорияларын бағалау: казино, крипто, ATM, gaming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НЕГІЗГІ МОДУЛЬДЕР — 2-БӨЛІМ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5720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Detector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4447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Алаяқтық схемаларын анықтау: gambling, laundering, P2P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572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14447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Кіріс/шығыс талдау, pass-through операциялар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240280"/>
            <a:ext cx="45720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 Transactions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26791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Түнгі транзакциялар мониторингі (23:00-06:00)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45720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514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Duplicate Payments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6791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Қайталанатын төлемдерді анықтау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474720"/>
            <a:ext cx="45720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8016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Amounts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39136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Дөңгелектенген сомаларды талдау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474720"/>
            <a:ext cx="4572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4937760" y="37490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Mismatch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77840" y="39136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Профильге сәйкес емес әрекеттерді табу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КОНТЕКСТУАЛДЫ САЛМАҚТАУ ЖҮЙЕСІ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731520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05840"/>
                <a:gridCol w="118872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Аккаунт типі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Velocity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Graph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Structuring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Night Tx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бизнесменнің жоғары айналымы қалыпты (Velocity 0.5x), ал зейнеткердің түнгі аударымы ерекше қауіпті (Night Tx 3.0x)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ЖАСАНДЫ ИНТЕЛЛЕКТ ИНТЕГРАЦИЯСЫ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46304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AI провайдер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 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Структурланған нәтижелер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463040"/>
          </a:xfrm>
          <a:prstGeom prst="rect">
            <a:avLst/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Ollama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Резервті провайдер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 режим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llama3:8b моделі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қолданылу аймақтары: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457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369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Assessment Narrative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2369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Тәуекелді бағалау баяндамасы — адам тілінде қорытынды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457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856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Summary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7856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 талдау — кіріс/шығыс паттерндері, аномалиялар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297680"/>
            <a:ext cx="457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334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3342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Ұсыныстар генерациясы — EDD, SAR, нақты қадамдар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КӨП ТІЛДІ ИНТЕРФЕЙС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69748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2412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Толық локализация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UI элементтері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Фрод нәтижелері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9748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2412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локализация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элементы интерфейса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рекомендации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974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02412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1417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9659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 elements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recommendations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Технология:  i18next + react-i18next  |  JSON locale файлдар  |  Динамикалық тіл ауыстыру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«ntFAST» ФУНКЦИОНАЛДЫҚ МҮМКІНДІКТЕРІ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Банктік үзінділерді автоматты жүктеу және талдау (PDF, XLSX, CSV)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007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6550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банкті қолдау: Kaspi, Halyk, Binance, Generic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0428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модульді фрод-детекция жүйесі (rule-based)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077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AI-негізделген тәуекел баяндамасы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112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655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уақыттағы талдау прогресі (WebSocket)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Фондық режимде талдау (навигацияны тоқтатпай)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11556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972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есеп экспорты (брендтелген есеп)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71907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7007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6550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жүйелік статистика, 6 айлық тренд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32257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30428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Транзакцияларды іздеу, сүзгілеу, сұрыптау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92608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9077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Субъектілерді басқару (физикалық/заңды тұлғалар)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52958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5112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4655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Пайдаланушыларды басқару (admin панелі)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13308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41148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Қараңғы/жарық тема + адаптивті дизайн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КҮТІЛЕТІН НӘТИЖЕЛЕР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123444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24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2-5 мин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Талдау уақыты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(қолмен 2-4 сағат)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1234440"/>
          </a:xfrm>
          <a:prstGeom prst="rect">
            <a:avLst/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24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фрод-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модулі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20240" cy="1234440"/>
          </a:xfrm>
          <a:prstGeom prst="rect">
            <a:avLst/>
          </a:prstGeom>
          <a:solidFill>
            <a:srgbClr val="10B981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24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60-80%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Анықтау тиімділігін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арттыру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005840"/>
            <a:ext cx="1920240" cy="1234440"/>
          </a:xfrm>
          <a:prstGeom prst="rect">
            <a:avLst/>
          </a:prstGeom>
          <a:solidFill>
            <a:srgbClr val="F59E0B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0241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тіл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95160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Қазақша, Русский,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14600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5328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False positive деңгейін минимизациялау (контекстуалды салмақтау арқылы)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90088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0083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Қазақстан нарығына бейімделген шешім (Kaspi, Halyk банктері)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65576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65576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83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AML/CFT халықаралық стандарттарына сәйкес талдау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41064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41064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9593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арқылы адам тілінде түсінікті баяндама генерациясы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41655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434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Көп тілді, қауіпсіз, масштабталатын веб-қосымша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ТЕХНОЛОГИЯЛЫҚ СТЕК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572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005840"/>
            <a:ext cx="397764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24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Tailwind CSS, Recharts, Framer Motion, Vite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5720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005840"/>
            <a:ext cx="39776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24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FastAPI, SQLAlchemy 2.0, Celery 5.3, Redis 5.0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286000"/>
            <a:ext cx="39776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04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JSON fields, Full-text 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4572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2286000"/>
            <a:ext cx="397764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04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(Anthropic), Ollama (Local LLM)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66160"/>
            <a:ext cx="4572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566160"/>
            <a:ext cx="397764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844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(HS256), Bcrypt, RBAC, Rate Limiting, CORS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66160"/>
            <a:ext cx="4572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566160"/>
            <a:ext cx="39776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5844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WebSocket, Celery async tasks, Background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ҚОРЫТЫНДЫ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 |  Дипломдық жұмыс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57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ntFAST — Қазақстан нарығына арналған алғашқы отандық фрод-детекция жүйесі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27632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733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модульді rule-based тәсіл — түсінікті, бақылауға ыңғайлы, аудитке дайын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9424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9514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интеграциясы (Claude + Ollama) — заманауи технологиялар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71216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1693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Көп тілді қолдау — қазақ, орыс, ағылшын тілдерінде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93008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38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 нақты банктік деректермен жұмыс істеуге дайын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БОЛАШАҚ ДАМУ: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462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Көп субъектілі талдау  |  Мобильді қосымша  |  Real-time мониторинг  |  Банк API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НАЗАРЛАРЫҢЫЗҒА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РАХМЕТ!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ntFAST — Financial Analysis System for Transactions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1127</Words>
  <Application>Microsoft Office PowerPoint</Application>
  <PresentationFormat>Экран (16:9)</PresentationFormat>
  <Paragraphs>349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ntFAST - Diploma Presentation</dc:title>
  <dc:subject>PptxGenJS Presentation</dc:subject>
  <dc:creator>ntFAST</dc:creator>
  <cp:lastModifiedBy>Admin</cp:lastModifiedBy>
  <cp:revision>10</cp:revision>
  <dcterms:created xsi:type="dcterms:W3CDTF">2026-03-16T04:51:52Z</dcterms:created>
  <dcterms:modified xsi:type="dcterms:W3CDTF">2026-03-16T05:48:46Z</dcterms:modified>
</cp:coreProperties>
</file>